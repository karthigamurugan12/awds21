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c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932688"/>
            <a:ext cx="66294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078992"/>
            <a:ext cx="3154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1469B1"/>
                </a:solidFill>
                <a:latin typeface="Times New Roman"/>
              </a:rPr>
              <a:t>•  Problem Statement / Concept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078992"/>
            <a:ext cx="32461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</a:rPr>
              <a:t>Agriculture and Wildlife Deterrent System (AWDS)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28800"/>
            <a:ext cx="3154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• 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3246120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sz="1350" dirty="0">
                <a:solidFill>
                  <a:srgbClr val="232323"/>
                </a:solidFill>
                <a:latin typeface="Times New Roman"/>
              </a:rPr>
              <a:t>Rural Developments and livelihood</a:t>
            </a:r>
            <a:endParaRPr sz="1350" b="0" i="0" dirty="0">
              <a:solidFill>
                <a:srgbClr val="232323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" y="2578608"/>
            <a:ext cx="3154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•  Team Name (Registered on portal)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78608"/>
            <a:ext cx="324612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 i="0" dirty="0">
                <a:solidFill>
                  <a:srgbClr val="232323"/>
                </a:solidFill>
                <a:latin typeface="Times New Roman"/>
              </a:rPr>
              <a:t>AWDS</a:t>
            </a:r>
            <a:r>
              <a:rPr lang="en-IN" sz="2200" b="1" i="0" dirty="0">
                <a:solidFill>
                  <a:srgbClr val="232323"/>
                </a:solidFill>
                <a:latin typeface="Times New Roman"/>
              </a:rPr>
              <a:t>21</a:t>
            </a:r>
            <a:endParaRPr sz="2200" b="1" i="0" dirty="0">
              <a:solidFill>
                <a:srgbClr val="232323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504" y="3328415"/>
            <a:ext cx="3154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•  Team ID (Registered on portal)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328415"/>
            <a:ext cx="3246120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IN" sz="1350" dirty="0">
                <a:solidFill>
                  <a:srgbClr val="232323"/>
                </a:solidFill>
                <a:latin typeface="Times New Roman"/>
              </a:rPr>
              <a:t>HSC|TN|00811</a:t>
            </a:r>
            <a:endParaRPr sz="1350" b="0" i="0" dirty="0">
              <a:solidFill>
                <a:srgbClr val="232323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" y="4078224"/>
            <a:ext cx="31546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•  State/UT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078224"/>
            <a:ext cx="32461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0" i="0">
                <a:solidFill>
                  <a:srgbClr val="232323"/>
                </a:solidFill>
                <a:latin typeface="Times New Roman"/>
              </a:rPr>
              <a:t>Tamil Nadu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74519"/>
            <a:ext cx="29260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200" b="1" i="0" dirty="0">
                <a:solidFill>
                  <a:srgbClr val="194369"/>
                </a:solidFill>
                <a:latin typeface="Times New Roman"/>
              </a:rPr>
              <a:t>AWDS</a:t>
            </a:r>
            <a:r>
              <a:rPr lang="en-IN" sz="2200" b="1" i="0" dirty="0">
                <a:solidFill>
                  <a:srgbClr val="194369"/>
                </a:solidFill>
                <a:latin typeface="Times New Roman"/>
              </a:rPr>
              <a:t>21</a:t>
            </a:r>
            <a:endParaRPr sz="2200" b="1" i="0" dirty="0">
              <a:solidFill>
                <a:srgbClr val="194369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2651760"/>
            <a:ext cx="365760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</a:rPr>
              <a:t>IoT-Based Smart Crop Protection
and Wildlife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749039"/>
            <a:ext cx="3749039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</a:rPr>
              <a:t>Karthiga M  •  Keerthana I  •  Jothi M
Mentor: Dr. R. Valarmathi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6528" y="3209544"/>
            <a:ext cx="1920240" cy="438912"/>
          </a:xfrm>
          <a:prstGeom prst="roundRect">
            <a:avLst/>
          </a:prstGeom>
          <a:solidFill>
            <a:srgbClr val="EBF4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194369"/>
                </a:solidFill>
                <a:latin typeface="Times New Roman"/>
              </a:rPr>
              <a:t>TEAM AWDS21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C9863F-4C2F-7B17-D1B7-A007DE2C2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499" y="5367528"/>
            <a:ext cx="1314864" cy="13148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13F24BD-C24A-7490-D1C4-49D33DD7B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727" y="5367528"/>
            <a:ext cx="1314864" cy="131486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44BF0EB-C471-6538-3459-C8363B5E5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2955" y="5367528"/>
            <a:ext cx="1428228" cy="1314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c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654" y="0"/>
            <a:ext cx="12191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325880"/>
            <a:ext cx="108813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429000" cy="361188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CORE PROBLEM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Farmers near forests and wildlife corridors face crop losses from animal intrusion.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Crop damage creates financial hardship and increases human–wildlife conflict.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Manual guarding, fencing and standalone scare devices can be costly, labour-intensive or ineffective.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3611880"/>
          </a:xfrm>
          <a:prstGeom prst="roundRect">
            <a:avLst/>
          </a:prstGeom>
          <a:solidFill>
            <a:srgbClr val="EEF9F3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PROPOSED SOLUTION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AWDS detects wildlife intrusion using motion sensors and camera monitoring.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An embedded controller processes the detected event.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Non-lethal ultrasonic deterrence is activated automatically.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Real-time GSM/Wi-Fi alerts reach the farmer.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429000" cy="3611880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INNOVATION &amp; UNIQUENESS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Combines detection, automated deterrence and instant notification in one IoT platform.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Continuous detection-to-action workflow reduces dependence on manual response.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Modular architecture can support future AI recognition and cloud monitoring.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402" y="306740"/>
            <a:ext cx="1225296" cy="516220"/>
          </a:xfrm>
          <a:prstGeom prst="roundRect">
            <a:avLst/>
          </a:prstGeom>
          <a:solidFill>
            <a:srgbClr val="194369"/>
          </a:solidFill>
          <a:ln>
            <a:solidFill>
              <a:srgbClr val="19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/>
              </a:rPr>
              <a:t>AWDS21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c_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298448"/>
            <a:ext cx="10972800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4800600" cy="233172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TECHNOLOGIES / COMPONENTS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Arduino UNO embedded controller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PIR motion sensing + camera monitoring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GSM / Wi-Fi wireless communication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Ultrasonic repellent + buzzer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5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Threshold-based event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913632"/>
            <a:ext cx="4800600" cy="1417320"/>
          </a:xfrm>
          <a:prstGeom prst="roundRect">
            <a:avLst/>
          </a:prstGeom>
          <a:solidFill>
            <a:srgbClr val="EEF9F3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IMPLEMENTATION METHOD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Need → Detection → Processing → Wireless Command → Deterrence + Alert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Detect movement → verify/monitor → process → trigger response → notify farmer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389888"/>
            <a:ext cx="5212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194369"/>
                </a:solidFill>
                <a:latin typeface="Times New Roman"/>
              </a:rPr>
              <a:t>AWDS WORKFLOW / BLOCK DIAGRAM</a:t>
            </a:r>
          </a:p>
        </p:txBody>
      </p:sp>
      <p:pic>
        <p:nvPicPr>
          <p:cNvPr id="9" name="Picture 8" descr="awds_block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37360"/>
            <a:ext cx="4800600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83580" y="4592803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 dirty="0">
                <a:solidFill>
                  <a:srgbClr val="232323"/>
                </a:solidFill>
                <a:latin typeface="Times New Roman"/>
              </a:rPr>
              <a:t>GitHub/GitLab: Not provided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505519"/>
            <a:ext cx="47548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 i="0" dirty="0">
                <a:solidFill>
                  <a:srgbClr val="232323"/>
                </a:solidFill>
                <a:latin typeface="Times New Roman"/>
              </a:rPr>
              <a:t>AI: Future enhancement; current prototype uses threshold processing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772EECC6-ED1D-C6B5-7300-D05774C9C861}"/>
              </a:ext>
            </a:extLst>
          </p:cNvPr>
          <p:cNvSpPr/>
          <p:nvPr/>
        </p:nvSpPr>
        <p:spPr>
          <a:xfrm>
            <a:off x="308402" y="306740"/>
            <a:ext cx="1225296" cy="516220"/>
          </a:xfrm>
          <a:prstGeom prst="roundRect">
            <a:avLst/>
          </a:prstGeom>
          <a:solidFill>
            <a:srgbClr val="194369"/>
          </a:solidFill>
          <a:ln>
            <a:solidFill>
              <a:srgbClr val="19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/>
              </a:rPr>
              <a:t>AWDS21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026B19-EE99-B474-D5AC-10A9C8D7A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756365" y="3679760"/>
            <a:ext cx="1598232" cy="24688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c_b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325880"/>
            <a:ext cx="11018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429000" cy="324612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TARGET AUDIENCE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Farmers and plantation owners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Agricultural cooperatives / FPOs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Horticulture and forest-edge communities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Government agriculture and wildlife agencies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3246120"/>
          </a:xfrm>
          <a:prstGeom prst="roundRect">
            <a:avLst/>
          </a:prstGeom>
          <a:solidFill>
            <a:srgbClr val="EEF9F3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BENEFITS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Economic: reduce crop damage and manual guarding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Social: reduce human–wildlife conflict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Environmental: non-lethal wildlife deterrence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Supports sustainable and climate-resilient agriculture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429000" cy="3246120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STAKEHOLDERS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Farmers and farming communities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Agricultural departments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Wildlife / conservation agencies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Cooperatives, FPOs and future institutional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5029200"/>
            <a:ext cx="5532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Impact potential: crop protection + safer coexistence + scalable smart farming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EBC5E962-F863-3F76-3314-DB3CB8D64797}"/>
              </a:ext>
            </a:extLst>
          </p:cNvPr>
          <p:cNvSpPr/>
          <p:nvPr/>
        </p:nvSpPr>
        <p:spPr>
          <a:xfrm>
            <a:off x="308402" y="306740"/>
            <a:ext cx="1225296" cy="516220"/>
          </a:xfrm>
          <a:prstGeom prst="roundRect">
            <a:avLst/>
          </a:prstGeom>
          <a:solidFill>
            <a:srgbClr val="194369"/>
          </a:solidFill>
          <a:ln>
            <a:solidFill>
              <a:srgbClr val="19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/>
              </a:rPr>
              <a:t>AWDS21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c_b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1"/>
            <a:ext cx="12191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325880"/>
            <a:ext cx="11018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429000" cy="333756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FEASIBILITY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Uses readily available IoT hardware and embedded technologies.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Prototype integrates sensing, processing, communication and deterrence.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Installation/calibration require technical expertise; long-term operation is straightforward.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Suitable for extended field validation and pilot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29000" cy="3337560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KEY RISKS / CHALLENGES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Environmental conditions can affect performance.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Sensor accuracy and sensitivity require calibration.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Network availability can be limited in remote locations.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Extended field validation is still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429000" cy="3337560"/>
          </a:xfrm>
          <a:prstGeom prst="roundRect">
            <a:avLst/>
          </a:prstGeom>
          <a:solidFill>
            <a:srgbClr val="EEF9F3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MITIGATION STRATEGIES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Periodic calibration and maintenance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Weather-resistant enclosures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Optimize sensor placement and validate under diverse conditions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1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Use reliable communication options for remote deployments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010912"/>
            <a:ext cx="6172200" cy="438912"/>
          </a:xfrm>
          <a:prstGeom prst="roundRect">
            <a:avLst/>
          </a:prstGeom>
          <a:solidFill>
            <a:srgbClr val="14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5074920"/>
            <a:ext cx="5989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Overall feasibility: straightforward to moderate; major work is field validation and optimization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420CD441-1AEF-882B-9776-0C7273E467B8}"/>
              </a:ext>
            </a:extLst>
          </p:cNvPr>
          <p:cNvSpPr/>
          <p:nvPr/>
        </p:nvSpPr>
        <p:spPr>
          <a:xfrm>
            <a:off x="308402" y="306740"/>
            <a:ext cx="1225296" cy="516220"/>
          </a:xfrm>
          <a:prstGeom prst="roundRect">
            <a:avLst/>
          </a:prstGeom>
          <a:solidFill>
            <a:srgbClr val="194369"/>
          </a:solidFill>
          <a:ln>
            <a:solidFill>
              <a:srgbClr val="19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/>
              </a:rPr>
              <a:t>AWDS21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c_b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325880"/>
            <a:ext cx="11018520" cy="434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3794760" cy="315468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TEAM COMPOSITION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Karthiga M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Keerthana I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Jothi M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Mentor: Dr. R. Valarmathi, Associate Professor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44752"/>
            <a:ext cx="3246120" cy="3154680"/>
          </a:xfrm>
          <a:prstGeom prst="roundRect">
            <a:avLst/>
          </a:prstGeom>
          <a:solidFill>
            <a:srgbClr val="EEF9F3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ROLES / CONTRIBUTION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8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Project development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8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Research and documentation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8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Prototype testing and refinement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8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Presentation and project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444752"/>
            <a:ext cx="3291840" cy="3154680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94369"/>
                </a:solidFill>
                <a:latin typeface="Times New Roman"/>
              </a:rPr>
              <a:t>CHALLENGES &amp; JOURNEY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Integrating sensing, deterrence and communication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Validating the prototype under practical conditions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Refining the system for wider field use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232323"/>
                </a:solidFill>
                <a:latin typeface="Georgia"/>
              </a:defRPr>
            </a:pPr>
            <a:r>
              <a:rPr sz="1200">
                <a:latin typeface="Times New Roman"/>
              </a:rPr>
              <a:t>• Moving from prototype toward pilot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956048"/>
            <a:ext cx="6263640" cy="457200"/>
          </a:xfrm>
          <a:prstGeom prst="roundRect">
            <a:avLst/>
          </a:prstGeom>
          <a:solidFill>
            <a:srgbClr val="146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90672" y="5020056"/>
            <a:ext cx="60350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Team focus: build → test → validate → improve AWDS for real agricultural use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468DA2E7-0347-D49F-2CB5-165BD7DADD87}"/>
              </a:ext>
            </a:extLst>
          </p:cNvPr>
          <p:cNvSpPr/>
          <p:nvPr/>
        </p:nvSpPr>
        <p:spPr>
          <a:xfrm>
            <a:off x="308402" y="306740"/>
            <a:ext cx="1225296" cy="516220"/>
          </a:xfrm>
          <a:prstGeom prst="roundRect">
            <a:avLst/>
          </a:prstGeom>
          <a:solidFill>
            <a:srgbClr val="194369"/>
          </a:solidFill>
          <a:ln>
            <a:solidFill>
              <a:srgbClr val="19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/>
              </a:rPr>
              <a:t>AWDS21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c_b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325880"/>
            <a:ext cx="1101852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194369"/>
                </a:solidFill>
                <a:latin typeface="Times New Roman"/>
              </a:rPr>
              <a:t>REFERENCE &amp; RESEARCH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3657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56231"/>
            <a:ext cx="996696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</a:rPr>
              <a:t>P. S. Rathore, R. Gupta &amp; A. Sharma, “IoT-Based Animal Detection and Alert System for Farm Fields,” IC3IoT,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13432"/>
            <a:ext cx="99669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1">
                <a:solidFill>
                  <a:srgbClr val="1469B1"/>
                </a:solidFill>
                <a:latin typeface="Times New Roman"/>
              </a:rPr>
              <a:t>researchgate.net/publication/381357336_IoT_Based_Animal_Detection_and_Alert_System_for_Farm_Fields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24327"/>
            <a:ext cx="3657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06039"/>
            <a:ext cx="996696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</a:rPr>
              <a:t>N. Alhassan et al., “IoT-Based Object-Detection System to Safeguard Endangered Animals on Farms,” Future Internet, 2023.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063239"/>
            <a:ext cx="99669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1">
                <a:solidFill>
                  <a:srgbClr val="1469B1"/>
                </a:solidFill>
                <a:latin typeface="Times New Roman"/>
              </a:rPr>
              <a:t>mdpi.com/1999-5903/15/12/372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74135"/>
            <a:ext cx="3657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355847"/>
            <a:ext cx="996696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</a:rPr>
              <a:t>S. Ramesh &amp; V. Kumar, “Animal Detection Based Smart Farming in Animal Repellent Using AI and Deep Learning,” 2025.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813048"/>
            <a:ext cx="99669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1">
                <a:solidFill>
                  <a:srgbClr val="1469B1"/>
                </a:solidFill>
                <a:latin typeface="Times New Roman"/>
              </a:rPr>
              <a:t>irjweb.com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23944"/>
            <a:ext cx="3657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105656"/>
            <a:ext cx="996696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</a:rPr>
              <a:t>A. Y. Patel, R. Mehta &amp; A. Pandey, “IoT-Based Real-Time Wildlife Intrusion Vigilance System,” 2025.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562856"/>
            <a:ext cx="99669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1">
                <a:solidFill>
                  <a:srgbClr val="1469B1"/>
                </a:solidFill>
                <a:latin typeface="Times New Roman"/>
              </a:rPr>
              <a:t>researchgate.net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873752"/>
            <a:ext cx="3657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469B1"/>
                </a:solidFill>
                <a:latin typeface="Times New Roman"/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855464"/>
            <a:ext cx="996696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323"/>
                </a:solidFill>
                <a:latin typeface="Times New Roman"/>
              </a:rPr>
              <a:t>F. B. Ahmed, R. F. Babatunde &amp; K. C. Chang, “Real-Time Farm Surveillance Using IoT and YOLOv8 for Animal Intrusion Detection,” Future Internet, 2025.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312664"/>
            <a:ext cx="99669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1">
                <a:solidFill>
                  <a:srgbClr val="1469B1"/>
                </a:solidFill>
                <a:latin typeface="Times New Roman"/>
              </a:rPr>
              <a:t>mdpi.com/1999-5903/17/2/70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5623560"/>
            <a:ext cx="96926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232323"/>
                </a:solidFill>
                <a:latin typeface="Times New Roman"/>
              </a:rPr>
              <a:t>Source basis: AWDS research / IEEE material and project documentation supplied for this presentation.</a:t>
            </a: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016DE48E-DE67-05CC-ADDD-E47401415879}"/>
              </a:ext>
            </a:extLst>
          </p:cNvPr>
          <p:cNvSpPr/>
          <p:nvPr/>
        </p:nvSpPr>
        <p:spPr>
          <a:xfrm>
            <a:off x="308402" y="306740"/>
            <a:ext cx="1225296" cy="516220"/>
          </a:xfrm>
          <a:prstGeom prst="roundRect">
            <a:avLst/>
          </a:prstGeom>
          <a:solidFill>
            <a:srgbClr val="194369"/>
          </a:solidFill>
          <a:ln>
            <a:solidFill>
              <a:srgbClr val="19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Times New Roman"/>
              </a:rPr>
              <a:t>AWDS21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803</Words>
  <Application>Microsoft Office PowerPoint</Application>
  <PresentationFormat>Widescreen</PresentationFormat>
  <Paragraphs>110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PAVITHRA V</dc:creator>
  <cp:keywords/>
  <dc:description>generated using python-pptx</dc:description>
  <cp:lastModifiedBy>Pavithra V</cp:lastModifiedBy>
  <cp:revision>2</cp:revision>
  <dcterms:created xsi:type="dcterms:W3CDTF">2013-01-27T09:14:16Z</dcterms:created>
  <dcterms:modified xsi:type="dcterms:W3CDTF">2026-10-14T04:33:15Z</dcterms:modified>
  <cp:category/>
</cp:coreProperties>
</file>